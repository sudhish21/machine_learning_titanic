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6" r:id="rId1"/>
  </p:sldMasterIdLst>
  <p:sldIdLst>
    <p:sldId id="256" r:id="rId2"/>
    <p:sldId id="257" r:id="rId3"/>
    <p:sldId id="258" r:id="rId4"/>
    <p:sldId id="259" r:id="rId5"/>
    <p:sldId id="273" r:id="rId6"/>
    <p:sldId id="274" r:id="rId7"/>
    <p:sldId id="276" r:id="rId8"/>
    <p:sldId id="277" r:id="rId9"/>
    <p:sldId id="278" r:id="rId10"/>
    <p:sldId id="275" r:id="rId11"/>
    <p:sldId id="269" r:id="rId12"/>
    <p:sldId id="268" r:id="rId13"/>
    <p:sldId id="260" r:id="rId14"/>
    <p:sldId id="261" r:id="rId15"/>
    <p:sldId id="262" r:id="rId16"/>
    <p:sldId id="263" r:id="rId17"/>
    <p:sldId id="264" r:id="rId18"/>
    <p:sldId id="265" r:id="rId19"/>
    <p:sldId id="270" r:id="rId20"/>
    <p:sldId id="271" r:id="rId21"/>
    <p:sldId id="266"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21-Jun-20</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B2DC25EE-239B-4C5F-AAD1-255A7D5F1EE2}"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02616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21-Jun-20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8930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21-Jun-20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343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21-Jun-20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1551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21-Jun-20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2415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21-Jun-20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713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21-Jun-20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1552204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21-Jun-20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33683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2AC24A9-CCB6-4F8D-B8DB-C2F3692CFA5A}" type="datetimeFigureOut">
              <a:rPr lang="en-US" smtClean="0"/>
              <a:t>21-Jun-20</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2414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21-Jun-20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6611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21-Jun-20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84663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2AC24A9-CCB6-4F8D-B8DB-C2F3692CFA5A}" type="datetimeFigureOut">
              <a:rPr lang="en-US" smtClean="0"/>
              <a:t>21-Jun-20</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2DC25EE-239B-4C5F-AAD1-255A7D5F1EE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913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84EF62-F8AB-4FF7-B872-CF2A33EF3E55}"/>
              </a:ext>
            </a:extLst>
          </p:cNvPr>
          <p:cNvPicPr>
            <a:picLocks noChangeAspect="1"/>
          </p:cNvPicPr>
          <p:nvPr/>
        </p:nvPicPr>
        <p:blipFill rotWithShape="1">
          <a:blip r:embed="rId2"/>
          <a:srcRect r="15627" b="-1"/>
          <a:stretch/>
        </p:blipFill>
        <p:spPr>
          <a:xfrm>
            <a:off x="4296792" y="10"/>
            <a:ext cx="7895208" cy="6857990"/>
          </a:xfrm>
          <a:prstGeom prst="rect">
            <a:avLst/>
          </a:prstGeom>
        </p:spPr>
      </p:pic>
      <p:sp>
        <p:nvSpPr>
          <p:cNvPr id="2" name="Title 1">
            <a:extLst>
              <a:ext uri="{FF2B5EF4-FFF2-40B4-BE49-F238E27FC236}">
                <a16:creationId xmlns:a16="http://schemas.microsoft.com/office/drawing/2014/main" id="{1DEA5443-7DCC-462A-B152-1FFEA4B1F82E}"/>
              </a:ext>
            </a:extLst>
          </p:cNvPr>
          <p:cNvSpPr>
            <a:spLocks noGrp="1"/>
          </p:cNvSpPr>
          <p:nvPr>
            <p:ph type="ctrTitle"/>
          </p:nvPr>
        </p:nvSpPr>
        <p:spPr>
          <a:xfrm>
            <a:off x="65402" y="372861"/>
            <a:ext cx="3870665" cy="2414727"/>
          </a:xfrm>
        </p:spPr>
        <p:txBody>
          <a:bodyPr anchor="b">
            <a:normAutofit/>
          </a:bodyPr>
          <a:lstStyle/>
          <a:p>
            <a:r>
              <a:rPr lang="en-US" sz="4800" dirty="0"/>
              <a:t>Analyzing Titanic Dataset</a:t>
            </a:r>
          </a:p>
        </p:txBody>
      </p:sp>
      <p:sp>
        <p:nvSpPr>
          <p:cNvPr id="3" name="Subtitle 2">
            <a:extLst>
              <a:ext uri="{FF2B5EF4-FFF2-40B4-BE49-F238E27FC236}">
                <a16:creationId xmlns:a16="http://schemas.microsoft.com/office/drawing/2014/main" id="{4C416C40-98C8-4FB9-9184-A602A844AB9B}"/>
              </a:ext>
            </a:extLst>
          </p:cNvPr>
          <p:cNvSpPr>
            <a:spLocks noGrp="1"/>
          </p:cNvSpPr>
          <p:nvPr>
            <p:ph type="subTitle" idx="1"/>
          </p:nvPr>
        </p:nvSpPr>
        <p:spPr>
          <a:xfrm>
            <a:off x="65403" y="3614652"/>
            <a:ext cx="3272602" cy="1208141"/>
          </a:xfrm>
        </p:spPr>
        <p:txBody>
          <a:bodyPr>
            <a:normAutofit fontScale="77500" lnSpcReduction="20000"/>
          </a:bodyPr>
          <a:lstStyle/>
          <a:p>
            <a:r>
              <a:rPr lang="en-US" sz="2000" dirty="0"/>
              <a:t>By SUDHISH Subramaniam,</a:t>
            </a:r>
          </a:p>
          <a:p>
            <a:r>
              <a:rPr lang="en-US" sz="2000" dirty="0"/>
              <a:t>Student of  VIT VELLORE</a:t>
            </a:r>
          </a:p>
          <a:p>
            <a:r>
              <a:rPr lang="en-US" sz="2000" dirty="0"/>
              <a:t>2</a:t>
            </a:r>
            <a:r>
              <a:rPr lang="en-US" sz="2000" baseline="30000" dirty="0"/>
              <a:t>nd</a:t>
            </a:r>
            <a:r>
              <a:rPr lang="en-US" sz="2000" dirty="0"/>
              <a:t> Year B-tech : ECE Core</a:t>
            </a:r>
          </a:p>
        </p:txBody>
      </p:sp>
      <p:pic>
        <p:nvPicPr>
          <p:cNvPr id="1026" name="Picture 2" descr="A Geological Study Of The Titanic Shipwreck Site">
            <a:extLst>
              <a:ext uri="{FF2B5EF4-FFF2-40B4-BE49-F238E27FC236}">
                <a16:creationId xmlns:a16="http://schemas.microsoft.com/office/drawing/2014/main" id="{9F995F37-5154-4BF1-9B5F-97F958C72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6791" y="0"/>
            <a:ext cx="7923321" cy="5282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54338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4D8D0-425D-4C18-ABA2-3F979F7F4110}"/>
              </a:ext>
            </a:extLst>
          </p:cNvPr>
          <p:cNvSpPr>
            <a:spLocks noGrp="1"/>
          </p:cNvSpPr>
          <p:nvPr>
            <p:ph type="title"/>
          </p:nvPr>
        </p:nvSpPr>
        <p:spPr/>
        <p:txBody>
          <a:bodyPr>
            <a:normAutofit/>
          </a:bodyPr>
          <a:lstStyle/>
          <a:p>
            <a:pPr algn="ctr"/>
            <a:r>
              <a:rPr lang="en-US" sz="4000" dirty="0"/>
              <a:t>Introduction</a:t>
            </a:r>
          </a:p>
        </p:txBody>
      </p:sp>
      <p:sp>
        <p:nvSpPr>
          <p:cNvPr id="3" name="Content Placeholder 2">
            <a:extLst>
              <a:ext uri="{FF2B5EF4-FFF2-40B4-BE49-F238E27FC236}">
                <a16:creationId xmlns:a16="http://schemas.microsoft.com/office/drawing/2014/main" id="{56B3AA7B-4918-487E-874F-848B94306DFA}"/>
              </a:ext>
            </a:extLst>
          </p:cNvPr>
          <p:cNvSpPr>
            <a:spLocks noGrp="1"/>
          </p:cNvSpPr>
          <p:nvPr>
            <p:ph idx="1"/>
          </p:nvPr>
        </p:nvSpPr>
        <p:spPr/>
        <p:txBody>
          <a:bodyPr>
            <a:normAutofit fontScale="92500"/>
          </a:bodyPr>
          <a:lstStyle/>
          <a:p>
            <a:r>
              <a:rPr lang="en-US" dirty="0"/>
              <a:t>On 10 April 1912, the Titanic departed on its maiden voyage from Southampton to New York.</a:t>
            </a:r>
          </a:p>
          <a:p>
            <a:r>
              <a:rPr lang="en-US" dirty="0"/>
              <a:t>On 14 April 1912, despite warnings of ice fields, the ship did not reduce speed and struck an iceberg shortly before midnight.</a:t>
            </a:r>
          </a:p>
          <a:p>
            <a:r>
              <a:rPr lang="en-US" dirty="0"/>
              <a:t>The iceberg ripped a long gash in the side and the ship began to flood. Passengers were unaware and joked about the ice found on the deck.</a:t>
            </a:r>
          </a:p>
          <a:p>
            <a:r>
              <a:rPr lang="en-US" dirty="0"/>
              <a:t>The Captain ordered the lifeboats to be filled and lowered, with women and children first. </a:t>
            </a:r>
          </a:p>
          <a:p>
            <a:r>
              <a:rPr lang="en-US" dirty="0"/>
              <a:t>The dataset tells us the number of people who survived the tragedy.</a:t>
            </a:r>
          </a:p>
        </p:txBody>
      </p:sp>
    </p:spTree>
    <p:extLst>
      <p:ext uri="{BB962C8B-B14F-4D97-AF65-F5344CB8AC3E}">
        <p14:creationId xmlns:p14="http://schemas.microsoft.com/office/powerpoint/2010/main" val="2689395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9B5CA-7F27-4B60-9216-30072D52FE5F}"/>
              </a:ext>
            </a:extLst>
          </p:cNvPr>
          <p:cNvSpPr>
            <a:spLocks noGrp="1"/>
          </p:cNvSpPr>
          <p:nvPr>
            <p:ph type="title"/>
          </p:nvPr>
        </p:nvSpPr>
        <p:spPr/>
        <p:txBody>
          <a:bodyPr/>
          <a:lstStyle/>
          <a:p>
            <a:pPr algn="ctr"/>
            <a:r>
              <a:rPr lang="en-US" sz="4000" dirty="0"/>
              <a:t>OBJECTIVE</a:t>
            </a:r>
            <a:endParaRPr lang="en-US" dirty="0"/>
          </a:p>
        </p:txBody>
      </p:sp>
      <p:sp>
        <p:nvSpPr>
          <p:cNvPr id="3" name="Content Placeholder 2">
            <a:extLst>
              <a:ext uri="{FF2B5EF4-FFF2-40B4-BE49-F238E27FC236}">
                <a16:creationId xmlns:a16="http://schemas.microsoft.com/office/drawing/2014/main" id="{9675FD7C-3A23-4C98-859A-4A86C0AB8D4B}"/>
              </a:ext>
            </a:extLst>
          </p:cNvPr>
          <p:cNvSpPr>
            <a:spLocks noGrp="1"/>
          </p:cNvSpPr>
          <p:nvPr>
            <p:ph idx="1"/>
          </p:nvPr>
        </p:nvSpPr>
        <p:spPr/>
        <p:txBody>
          <a:bodyPr>
            <a:normAutofit/>
          </a:bodyPr>
          <a:lstStyle/>
          <a:p>
            <a:pPr marL="0" indent="0">
              <a:buNone/>
            </a:pPr>
            <a:r>
              <a:rPr lang="en-US" sz="3200" dirty="0"/>
              <a:t>The main objective of the machine algorithm is create a model which could predict whether a person  could survive the tragedy, by analyzing the parameters.</a:t>
            </a:r>
          </a:p>
        </p:txBody>
      </p:sp>
    </p:spTree>
    <p:extLst>
      <p:ext uri="{BB962C8B-B14F-4D97-AF65-F5344CB8AC3E}">
        <p14:creationId xmlns:p14="http://schemas.microsoft.com/office/powerpoint/2010/main" val="4137264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B4DA-042E-42A2-9660-7E287D7005A4}"/>
              </a:ext>
            </a:extLst>
          </p:cNvPr>
          <p:cNvSpPr>
            <a:spLocks noGrp="1"/>
          </p:cNvSpPr>
          <p:nvPr>
            <p:ph type="title"/>
          </p:nvPr>
        </p:nvSpPr>
        <p:spPr/>
        <p:txBody>
          <a:bodyPr>
            <a:normAutofit/>
          </a:bodyPr>
          <a:lstStyle/>
          <a:p>
            <a:pPr algn="ctr"/>
            <a:r>
              <a:rPr lang="en-US" sz="4000" dirty="0"/>
              <a:t>Parameters to determine</a:t>
            </a:r>
          </a:p>
        </p:txBody>
      </p:sp>
      <p:pic>
        <p:nvPicPr>
          <p:cNvPr id="4" name="Picture 3">
            <a:extLst>
              <a:ext uri="{FF2B5EF4-FFF2-40B4-BE49-F238E27FC236}">
                <a16:creationId xmlns:a16="http://schemas.microsoft.com/office/drawing/2014/main" id="{7CA59D85-AB4D-450D-B3FF-AF8325AF6612}"/>
              </a:ext>
            </a:extLst>
          </p:cNvPr>
          <p:cNvPicPr>
            <a:picLocks noChangeAspect="1"/>
          </p:cNvPicPr>
          <p:nvPr/>
        </p:nvPicPr>
        <p:blipFill>
          <a:blip r:embed="rId2"/>
          <a:stretch>
            <a:fillRect/>
          </a:stretch>
        </p:blipFill>
        <p:spPr>
          <a:xfrm>
            <a:off x="761993" y="2731554"/>
            <a:ext cx="10841122" cy="1675125"/>
          </a:xfrm>
          <a:prstGeom prst="rect">
            <a:avLst/>
          </a:prstGeom>
        </p:spPr>
      </p:pic>
    </p:spTree>
    <p:extLst>
      <p:ext uri="{BB962C8B-B14F-4D97-AF65-F5344CB8AC3E}">
        <p14:creationId xmlns:p14="http://schemas.microsoft.com/office/powerpoint/2010/main" val="1710945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F3E9-F926-4852-B034-CFD2995956C6}"/>
              </a:ext>
            </a:extLst>
          </p:cNvPr>
          <p:cNvSpPr>
            <a:spLocks noGrp="1"/>
          </p:cNvSpPr>
          <p:nvPr>
            <p:ph type="title"/>
          </p:nvPr>
        </p:nvSpPr>
        <p:spPr/>
        <p:txBody>
          <a:bodyPr>
            <a:noAutofit/>
          </a:bodyPr>
          <a:lstStyle/>
          <a:p>
            <a:pPr algn="ctr"/>
            <a:r>
              <a:rPr lang="en-US" sz="3600" dirty="0"/>
              <a:t>Finding the optimum target columns</a:t>
            </a:r>
          </a:p>
        </p:txBody>
      </p:sp>
      <p:pic>
        <p:nvPicPr>
          <p:cNvPr id="4" name="Picture 3">
            <a:extLst>
              <a:ext uri="{FF2B5EF4-FFF2-40B4-BE49-F238E27FC236}">
                <a16:creationId xmlns:a16="http://schemas.microsoft.com/office/drawing/2014/main" id="{35BCE7B8-3364-4CED-96BE-17D1EBA9477F}"/>
              </a:ext>
            </a:extLst>
          </p:cNvPr>
          <p:cNvPicPr>
            <a:picLocks noChangeAspect="1"/>
          </p:cNvPicPr>
          <p:nvPr/>
        </p:nvPicPr>
        <p:blipFill>
          <a:blip r:embed="rId2"/>
          <a:stretch>
            <a:fillRect/>
          </a:stretch>
        </p:blipFill>
        <p:spPr>
          <a:xfrm>
            <a:off x="1882168" y="1971009"/>
            <a:ext cx="7895004" cy="1516511"/>
          </a:xfrm>
          <a:prstGeom prst="rect">
            <a:avLst/>
          </a:prstGeom>
        </p:spPr>
      </p:pic>
      <p:pic>
        <p:nvPicPr>
          <p:cNvPr id="5" name="Picture 4">
            <a:extLst>
              <a:ext uri="{FF2B5EF4-FFF2-40B4-BE49-F238E27FC236}">
                <a16:creationId xmlns:a16="http://schemas.microsoft.com/office/drawing/2014/main" id="{C1EB3679-FE33-4892-9BAE-6F92B2826A6C}"/>
              </a:ext>
            </a:extLst>
          </p:cNvPr>
          <p:cNvPicPr>
            <a:picLocks noChangeAspect="1"/>
          </p:cNvPicPr>
          <p:nvPr/>
        </p:nvPicPr>
        <p:blipFill>
          <a:blip r:embed="rId3"/>
          <a:stretch>
            <a:fillRect/>
          </a:stretch>
        </p:blipFill>
        <p:spPr>
          <a:xfrm>
            <a:off x="2146232" y="3604775"/>
            <a:ext cx="7315834" cy="1143099"/>
          </a:xfrm>
          <a:prstGeom prst="rect">
            <a:avLst/>
          </a:prstGeom>
        </p:spPr>
      </p:pic>
      <p:pic>
        <p:nvPicPr>
          <p:cNvPr id="6" name="Picture 5">
            <a:extLst>
              <a:ext uri="{FF2B5EF4-FFF2-40B4-BE49-F238E27FC236}">
                <a16:creationId xmlns:a16="http://schemas.microsoft.com/office/drawing/2014/main" id="{06DA6BED-465E-4C3C-8084-E2A5A43CC42B}"/>
              </a:ext>
            </a:extLst>
          </p:cNvPr>
          <p:cNvPicPr>
            <a:picLocks noChangeAspect="1"/>
          </p:cNvPicPr>
          <p:nvPr/>
        </p:nvPicPr>
        <p:blipFill>
          <a:blip r:embed="rId4"/>
          <a:stretch>
            <a:fillRect/>
          </a:stretch>
        </p:blipFill>
        <p:spPr>
          <a:xfrm>
            <a:off x="2673709" y="4865129"/>
            <a:ext cx="6311921" cy="1705925"/>
          </a:xfrm>
          <a:prstGeom prst="rect">
            <a:avLst/>
          </a:prstGeom>
        </p:spPr>
      </p:pic>
    </p:spTree>
    <p:extLst>
      <p:ext uri="{BB962C8B-B14F-4D97-AF65-F5344CB8AC3E}">
        <p14:creationId xmlns:p14="http://schemas.microsoft.com/office/powerpoint/2010/main" val="1900837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E7DD-BA7A-4DDB-BE30-5FCF6CE5375E}"/>
              </a:ext>
            </a:extLst>
          </p:cNvPr>
          <p:cNvSpPr>
            <a:spLocks noGrp="1"/>
          </p:cNvSpPr>
          <p:nvPr>
            <p:ph type="title"/>
          </p:nvPr>
        </p:nvSpPr>
        <p:spPr/>
        <p:txBody>
          <a:bodyPr>
            <a:normAutofit/>
          </a:bodyPr>
          <a:lstStyle/>
          <a:p>
            <a:pPr algn="ctr"/>
            <a:r>
              <a:rPr lang="en-US" sz="4000" dirty="0"/>
              <a:t>Splitting the dataset</a:t>
            </a:r>
          </a:p>
        </p:txBody>
      </p:sp>
      <p:pic>
        <p:nvPicPr>
          <p:cNvPr id="4" name="Picture 3">
            <a:extLst>
              <a:ext uri="{FF2B5EF4-FFF2-40B4-BE49-F238E27FC236}">
                <a16:creationId xmlns:a16="http://schemas.microsoft.com/office/drawing/2014/main" id="{DED54258-B067-40A9-B3CE-47C05FA51326}"/>
              </a:ext>
            </a:extLst>
          </p:cNvPr>
          <p:cNvPicPr>
            <a:picLocks noChangeAspect="1"/>
          </p:cNvPicPr>
          <p:nvPr/>
        </p:nvPicPr>
        <p:blipFill>
          <a:blip r:embed="rId2"/>
          <a:stretch>
            <a:fillRect/>
          </a:stretch>
        </p:blipFill>
        <p:spPr>
          <a:xfrm>
            <a:off x="1451579" y="2098409"/>
            <a:ext cx="3924966" cy="1937996"/>
          </a:xfrm>
          <a:prstGeom prst="rect">
            <a:avLst/>
          </a:prstGeom>
        </p:spPr>
      </p:pic>
      <p:pic>
        <p:nvPicPr>
          <p:cNvPr id="5" name="Picture 4">
            <a:extLst>
              <a:ext uri="{FF2B5EF4-FFF2-40B4-BE49-F238E27FC236}">
                <a16:creationId xmlns:a16="http://schemas.microsoft.com/office/drawing/2014/main" id="{5882C1C5-BC07-4601-9686-AC3CD7C9C5A9}"/>
              </a:ext>
            </a:extLst>
          </p:cNvPr>
          <p:cNvPicPr>
            <a:picLocks noChangeAspect="1"/>
          </p:cNvPicPr>
          <p:nvPr/>
        </p:nvPicPr>
        <p:blipFill>
          <a:blip r:embed="rId3"/>
          <a:stretch>
            <a:fillRect/>
          </a:stretch>
        </p:blipFill>
        <p:spPr>
          <a:xfrm>
            <a:off x="5958639" y="2098408"/>
            <a:ext cx="5096215" cy="1937997"/>
          </a:xfrm>
          <a:prstGeom prst="rect">
            <a:avLst/>
          </a:prstGeom>
        </p:spPr>
      </p:pic>
      <p:pic>
        <p:nvPicPr>
          <p:cNvPr id="6" name="Picture 5">
            <a:extLst>
              <a:ext uri="{FF2B5EF4-FFF2-40B4-BE49-F238E27FC236}">
                <a16:creationId xmlns:a16="http://schemas.microsoft.com/office/drawing/2014/main" id="{17DF80A9-E137-4DD8-B0B9-04721EBF90D8}"/>
              </a:ext>
            </a:extLst>
          </p:cNvPr>
          <p:cNvPicPr>
            <a:picLocks noChangeAspect="1"/>
          </p:cNvPicPr>
          <p:nvPr/>
        </p:nvPicPr>
        <p:blipFill>
          <a:blip r:embed="rId4"/>
          <a:stretch>
            <a:fillRect/>
          </a:stretch>
        </p:blipFill>
        <p:spPr>
          <a:xfrm>
            <a:off x="1451579" y="4145398"/>
            <a:ext cx="3924966" cy="1996436"/>
          </a:xfrm>
          <a:prstGeom prst="rect">
            <a:avLst/>
          </a:prstGeom>
        </p:spPr>
      </p:pic>
      <p:pic>
        <p:nvPicPr>
          <p:cNvPr id="8" name="Picture 7">
            <a:extLst>
              <a:ext uri="{FF2B5EF4-FFF2-40B4-BE49-F238E27FC236}">
                <a16:creationId xmlns:a16="http://schemas.microsoft.com/office/drawing/2014/main" id="{FCCC8CEC-1FF7-4FA5-8E6E-7BF96CC6F5C0}"/>
              </a:ext>
            </a:extLst>
          </p:cNvPr>
          <p:cNvPicPr>
            <a:picLocks noChangeAspect="1"/>
          </p:cNvPicPr>
          <p:nvPr/>
        </p:nvPicPr>
        <p:blipFill>
          <a:blip r:embed="rId5"/>
          <a:stretch>
            <a:fillRect/>
          </a:stretch>
        </p:blipFill>
        <p:spPr>
          <a:xfrm>
            <a:off x="5958639" y="4163557"/>
            <a:ext cx="5753599" cy="1889924"/>
          </a:xfrm>
          <a:prstGeom prst="rect">
            <a:avLst/>
          </a:prstGeom>
        </p:spPr>
      </p:pic>
    </p:spTree>
    <p:extLst>
      <p:ext uri="{BB962C8B-B14F-4D97-AF65-F5344CB8AC3E}">
        <p14:creationId xmlns:p14="http://schemas.microsoft.com/office/powerpoint/2010/main" val="78744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D63B-64DC-43D6-8041-3CE41073275A}"/>
              </a:ext>
            </a:extLst>
          </p:cNvPr>
          <p:cNvSpPr>
            <a:spLocks noGrp="1"/>
          </p:cNvSpPr>
          <p:nvPr>
            <p:ph type="title"/>
          </p:nvPr>
        </p:nvSpPr>
        <p:spPr/>
        <p:txBody>
          <a:bodyPr>
            <a:normAutofit/>
          </a:bodyPr>
          <a:lstStyle/>
          <a:p>
            <a:pPr algn="ctr"/>
            <a:r>
              <a:rPr lang="en-US" sz="4000" dirty="0"/>
              <a:t>Relation between columns: I</a:t>
            </a:r>
          </a:p>
        </p:txBody>
      </p:sp>
      <p:pic>
        <p:nvPicPr>
          <p:cNvPr id="4" name="Picture 3">
            <a:extLst>
              <a:ext uri="{FF2B5EF4-FFF2-40B4-BE49-F238E27FC236}">
                <a16:creationId xmlns:a16="http://schemas.microsoft.com/office/drawing/2014/main" id="{545CA7AF-0B34-457B-B9E5-9C832ADFE027}"/>
              </a:ext>
            </a:extLst>
          </p:cNvPr>
          <p:cNvPicPr>
            <a:picLocks noChangeAspect="1"/>
          </p:cNvPicPr>
          <p:nvPr/>
        </p:nvPicPr>
        <p:blipFill>
          <a:blip r:embed="rId2"/>
          <a:stretch>
            <a:fillRect/>
          </a:stretch>
        </p:blipFill>
        <p:spPr>
          <a:xfrm>
            <a:off x="1948400" y="1969164"/>
            <a:ext cx="8996512" cy="1670681"/>
          </a:xfrm>
          <a:prstGeom prst="rect">
            <a:avLst/>
          </a:prstGeom>
        </p:spPr>
      </p:pic>
      <p:pic>
        <p:nvPicPr>
          <p:cNvPr id="5" name="Picture 4">
            <a:extLst>
              <a:ext uri="{FF2B5EF4-FFF2-40B4-BE49-F238E27FC236}">
                <a16:creationId xmlns:a16="http://schemas.microsoft.com/office/drawing/2014/main" id="{B6B9070D-C0FE-4998-8BAD-C6C791F8049E}"/>
              </a:ext>
            </a:extLst>
          </p:cNvPr>
          <p:cNvPicPr>
            <a:picLocks noChangeAspect="1"/>
          </p:cNvPicPr>
          <p:nvPr/>
        </p:nvPicPr>
        <p:blipFill>
          <a:blip r:embed="rId3"/>
          <a:stretch>
            <a:fillRect/>
          </a:stretch>
        </p:blipFill>
        <p:spPr>
          <a:xfrm>
            <a:off x="1948400" y="3968319"/>
            <a:ext cx="8996512" cy="1171852"/>
          </a:xfrm>
          <a:prstGeom prst="rect">
            <a:avLst/>
          </a:prstGeom>
        </p:spPr>
      </p:pic>
    </p:spTree>
    <p:extLst>
      <p:ext uri="{BB962C8B-B14F-4D97-AF65-F5344CB8AC3E}">
        <p14:creationId xmlns:p14="http://schemas.microsoft.com/office/powerpoint/2010/main" val="207829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BCD7D-6D34-4F71-A694-F3F0415BB226}"/>
              </a:ext>
            </a:extLst>
          </p:cNvPr>
          <p:cNvSpPr>
            <a:spLocks noGrp="1"/>
          </p:cNvSpPr>
          <p:nvPr>
            <p:ph type="title"/>
          </p:nvPr>
        </p:nvSpPr>
        <p:spPr/>
        <p:txBody>
          <a:bodyPr>
            <a:normAutofit/>
          </a:bodyPr>
          <a:lstStyle/>
          <a:p>
            <a:pPr algn="ctr"/>
            <a:r>
              <a:rPr lang="en-US" sz="4000" dirty="0"/>
              <a:t>Relation between columns: II</a:t>
            </a:r>
          </a:p>
        </p:txBody>
      </p:sp>
      <p:pic>
        <p:nvPicPr>
          <p:cNvPr id="5" name="Picture 4">
            <a:extLst>
              <a:ext uri="{FF2B5EF4-FFF2-40B4-BE49-F238E27FC236}">
                <a16:creationId xmlns:a16="http://schemas.microsoft.com/office/drawing/2014/main" id="{4A3BED40-C17B-4DF4-8BE7-0060AB7A7576}"/>
              </a:ext>
            </a:extLst>
          </p:cNvPr>
          <p:cNvPicPr>
            <a:picLocks noChangeAspect="1"/>
          </p:cNvPicPr>
          <p:nvPr/>
        </p:nvPicPr>
        <p:blipFill>
          <a:blip r:embed="rId2"/>
          <a:stretch>
            <a:fillRect/>
          </a:stretch>
        </p:blipFill>
        <p:spPr>
          <a:xfrm>
            <a:off x="2016492" y="1915902"/>
            <a:ext cx="8159016" cy="4137579"/>
          </a:xfrm>
          <a:prstGeom prst="rect">
            <a:avLst/>
          </a:prstGeom>
        </p:spPr>
      </p:pic>
    </p:spTree>
    <p:extLst>
      <p:ext uri="{BB962C8B-B14F-4D97-AF65-F5344CB8AC3E}">
        <p14:creationId xmlns:p14="http://schemas.microsoft.com/office/powerpoint/2010/main" val="167744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45C6F-A0D5-434B-BB29-175EF17BCAE2}"/>
              </a:ext>
            </a:extLst>
          </p:cNvPr>
          <p:cNvSpPr>
            <a:spLocks noGrp="1"/>
          </p:cNvSpPr>
          <p:nvPr>
            <p:ph type="title"/>
          </p:nvPr>
        </p:nvSpPr>
        <p:spPr/>
        <p:txBody>
          <a:bodyPr>
            <a:normAutofit/>
          </a:bodyPr>
          <a:lstStyle/>
          <a:p>
            <a:pPr algn="ctr"/>
            <a:r>
              <a:rPr lang="en-US" sz="4000" dirty="0"/>
              <a:t>FINDING THE OPTIMUM COLUMN</a:t>
            </a:r>
          </a:p>
        </p:txBody>
      </p:sp>
      <p:pic>
        <p:nvPicPr>
          <p:cNvPr id="4" name="Picture 3">
            <a:extLst>
              <a:ext uri="{FF2B5EF4-FFF2-40B4-BE49-F238E27FC236}">
                <a16:creationId xmlns:a16="http://schemas.microsoft.com/office/drawing/2014/main" id="{292BCACB-AD02-4B5C-9BDD-97527095EF38}"/>
              </a:ext>
            </a:extLst>
          </p:cNvPr>
          <p:cNvPicPr>
            <a:picLocks noChangeAspect="1"/>
          </p:cNvPicPr>
          <p:nvPr/>
        </p:nvPicPr>
        <p:blipFill>
          <a:blip r:embed="rId2"/>
          <a:stretch>
            <a:fillRect/>
          </a:stretch>
        </p:blipFill>
        <p:spPr>
          <a:xfrm>
            <a:off x="327869" y="2633976"/>
            <a:ext cx="5421390" cy="1973535"/>
          </a:xfrm>
          <a:prstGeom prst="rect">
            <a:avLst/>
          </a:prstGeom>
        </p:spPr>
      </p:pic>
      <p:pic>
        <p:nvPicPr>
          <p:cNvPr id="5" name="Picture 4">
            <a:extLst>
              <a:ext uri="{FF2B5EF4-FFF2-40B4-BE49-F238E27FC236}">
                <a16:creationId xmlns:a16="http://schemas.microsoft.com/office/drawing/2014/main" id="{70E0A895-35DC-42E8-81A1-E9CE8CCDBC3C}"/>
              </a:ext>
            </a:extLst>
          </p:cNvPr>
          <p:cNvPicPr>
            <a:picLocks noChangeAspect="1"/>
          </p:cNvPicPr>
          <p:nvPr/>
        </p:nvPicPr>
        <p:blipFill>
          <a:blip r:embed="rId3"/>
          <a:stretch>
            <a:fillRect/>
          </a:stretch>
        </p:blipFill>
        <p:spPr>
          <a:xfrm>
            <a:off x="6096000" y="2615936"/>
            <a:ext cx="5421390" cy="2009614"/>
          </a:xfrm>
          <a:prstGeom prst="rect">
            <a:avLst/>
          </a:prstGeom>
        </p:spPr>
      </p:pic>
    </p:spTree>
    <p:extLst>
      <p:ext uri="{BB962C8B-B14F-4D97-AF65-F5344CB8AC3E}">
        <p14:creationId xmlns:p14="http://schemas.microsoft.com/office/powerpoint/2010/main" val="1372409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8006-3B1B-4CE0-900A-477F9E7E3B71}"/>
              </a:ext>
            </a:extLst>
          </p:cNvPr>
          <p:cNvSpPr>
            <a:spLocks noGrp="1"/>
          </p:cNvSpPr>
          <p:nvPr>
            <p:ph type="title"/>
          </p:nvPr>
        </p:nvSpPr>
        <p:spPr/>
        <p:txBody>
          <a:bodyPr>
            <a:normAutofit/>
          </a:bodyPr>
          <a:lstStyle/>
          <a:p>
            <a:pPr algn="ctr"/>
            <a:r>
              <a:rPr lang="en-US" sz="4000" dirty="0"/>
              <a:t>Extracting the required columns</a:t>
            </a:r>
          </a:p>
        </p:txBody>
      </p:sp>
      <p:pic>
        <p:nvPicPr>
          <p:cNvPr id="3" name="Picture 2">
            <a:extLst>
              <a:ext uri="{FF2B5EF4-FFF2-40B4-BE49-F238E27FC236}">
                <a16:creationId xmlns:a16="http://schemas.microsoft.com/office/drawing/2014/main" id="{886C92FD-6282-4104-B796-044A90983A5B}"/>
              </a:ext>
            </a:extLst>
          </p:cNvPr>
          <p:cNvPicPr>
            <a:picLocks noChangeAspect="1"/>
          </p:cNvPicPr>
          <p:nvPr/>
        </p:nvPicPr>
        <p:blipFill>
          <a:blip r:embed="rId2"/>
          <a:stretch>
            <a:fillRect/>
          </a:stretch>
        </p:blipFill>
        <p:spPr>
          <a:xfrm>
            <a:off x="219924" y="2413292"/>
            <a:ext cx="5759888" cy="2247485"/>
          </a:xfrm>
          <a:prstGeom prst="rect">
            <a:avLst/>
          </a:prstGeom>
        </p:spPr>
      </p:pic>
      <p:pic>
        <p:nvPicPr>
          <p:cNvPr id="5" name="Picture 4">
            <a:extLst>
              <a:ext uri="{FF2B5EF4-FFF2-40B4-BE49-F238E27FC236}">
                <a16:creationId xmlns:a16="http://schemas.microsoft.com/office/drawing/2014/main" id="{1E53BD08-7516-428D-A38F-69320BF10C76}"/>
              </a:ext>
            </a:extLst>
          </p:cNvPr>
          <p:cNvPicPr>
            <a:picLocks noChangeAspect="1"/>
          </p:cNvPicPr>
          <p:nvPr/>
        </p:nvPicPr>
        <p:blipFill>
          <a:blip r:embed="rId3"/>
          <a:stretch>
            <a:fillRect/>
          </a:stretch>
        </p:blipFill>
        <p:spPr>
          <a:xfrm>
            <a:off x="6212190" y="2413292"/>
            <a:ext cx="5695831" cy="2247485"/>
          </a:xfrm>
          <a:prstGeom prst="rect">
            <a:avLst/>
          </a:prstGeom>
        </p:spPr>
      </p:pic>
    </p:spTree>
    <p:extLst>
      <p:ext uri="{BB962C8B-B14F-4D97-AF65-F5344CB8AC3E}">
        <p14:creationId xmlns:p14="http://schemas.microsoft.com/office/powerpoint/2010/main" val="1935527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70AC-FE7A-4341-9DF0-C7F440CDCBDD}"/>
              </a:ext>
            </a:extLst>
          </p:cNvPr>
          <p:cNvSpPr>
            <a:spLocks noGrp="1"/>
          </p:cNvSpPr>
          <p:nvPr>
            <p:ph type="title"/>
          </p:nvPr>
        </p:nvSpPr>
        <p:spPr/>
        <p:txBody>
          <a:bodyPr>
            <a:normAutofit/>
          </a:bodyPr>
          <a:lstStyle/>
          <a:p>
            <a:pPr algn="ctr"/>
            <a:r>
              <a:rPr lang="en-US" sz="4000" dirty="0"/>
              <a:t>Dataset</a:t>
            </a:r>
          </a:p>
        </p:txBody>
      </p:sp>
      <p:pic>
        <p:nvPicPr>
          <p:cNvPr id="4" name="Picture 3">
            <a:extLst>
              <a:ext uri="{FF2B5EF4-FFF2-40B4-BE49-F238E27FC236}">
                <a16:creationId xmlns:a16="http://schemas.microsoft.com/office/drawing/2014/main" id="{2DFE358A-852C-4EB6-A535-754723006D80}"/>
              </a:ext>
            </a:extLst>
          </p:cNvPr>
          <p:cNvPicPr>
            <a:picLocks noChangeAspect="1"/>
          </p:cNvPicPr>
          <p:nvPr/>
        </p:nvPicPr>
        <p:blipFill>
          <a:blip r:embed="rId2"/>
          <a:stretch>
            <a:fillRect/>
          </a:stretch>
        </p:blipFill>
        <p:spPr>
          <a:xfrm>
            <a:off x="1451579" y="2398060"/>
            <a:ext cx="9459865" cy="2061879"/>
          </a:xfrm>
          <a:prstGeom prst="rect">
            <a:avLst/>
          </a:prstGeom>
        </p:spPr>
      </p:pic>
    </p:spTree>
    <p:extLst>
      <p:ext uri="{BB962C8B-B14F-4D97-AF65-F5344CB8AC3E}">
        <p14:creationId xmlns:p14="http://schemas.microsoft.com/office/powerpoint/2010/main" val="2988591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BE43A-9026-4EF5-9718-566062E44F8D}"/>
              </a:ext>
            </a:extLst>
          </p:cNvPr>
          <p:cNvSpPr>
            <a:spLocks noGrp="1"/>
          </p:cNvSpPr>
          <p:nvPr>
            <p:ph type="title"/>
          </p:nvPr>
        </p:nvSpPr>
        <p:spPr/>
        <p:txBody>
          <a:bodyPr>
            <a:normAutofit/>
          </a:bodyPr>
          <a:lstStyle/>
          <a:p>
            <a:pPr algn="ctr"/>
            <a:r>
              <a:rPr lang="en-US" sz="4000" dirty="0"/>
              <a:t>Libraries imported	</a:t>
            </a:r>
          </a:p>
        </p:txBody>
      </p:sp>
      <p:pic>
        <p:nvPicPr>
          <p:cNvPr id="5" name="Picture 4">
            <a:extLst>
              <a:ext uri="{FF2B5EF4-FFF2-40B4-BE49-F238E27FC236}">
                <a16:creationId xmlns:a16="http://schemas.microsoft.com/office/drawing/2014/main" id="{F12CB9D9-5431-48D8-A83F-16E0F4AA29EB}"/>
              </a:ext>
            </a:extLst>
          </p:cNvPr>
          <p:cNvPicPr>
            <a:picLocks noChangeAspect="1"/>
          </p:cNvPicPr>
          <p:nvPr/>
        </p:nvPicPr>
        <p:blipFill>
          <a:blip r:embed="rId2"/>
          <a:stretch>
            <a:fillRect/>
          </a:stretch>
        </p:blipFill>
        <p:spPr>
          <a:xfrm>
            <a:off x="1563334" y="2016900"/>
            <a:ext cx="9065332" cy="2121674"/>
          </a:xfrm>
          <a:prstGeom prst="rect">
            <a:avLst/>
          </a:prstGeom>
        </p:spPr>
      </p:pic>
      <p:pic>
        <p:nvPicPr>
          <p:cNvPr id="3" name="Picture 2">
            <a:extLst>
              <a:ext uri="{FF2B5EF4-FFF2-40B4-BE49-F238E27FC236}">
                <a16:creationId xmlns:a16="http://schemas.microsoft.com/office/drawing/2014/main" id="{6442C128-1944-4ACE-9399-0B810D93E3AA}"/>
              </a:ext>
            </a:extLst>
          </p:cNvPr>
          <p:cNvPicPr>
            <a:picLocks noChangeAspect="1"/>
          </p:cNvPicPr>
          <p:nvPr/>
        </p:nvPicPr>
        <p:blipFill>
          <a:blip r:embed="rId3"/>
          <a:stretch>
            <a:fillRect/>
          </a:stretch>
        </p:blipFill>
        <p:spPr>
          <a:xfrm>
            <a:off x="2834790" y="4301721"/>
            <a:ext cx="5936494" cy="1486029"/>
          </a:xfrm>
          <a:prstGeom prst="rect">
            <a:avLst/>
          </a:prstGeom>
        </p:spPr>
      </p:pic>
    </p:spTree>
    <p:extLst>
      <p:ext uri="{BB962C8B-B14F-4D97-AF65-F5344CB8AC3E}">
        <p14:creationId xmlns:p14="http://schemas.microsoft.com/office/powerpoint/2010/main" val="583391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143D1-5914-45A4-98FC-42FCBDEEA745}"/>
              </a:ext>
            </a:extLst>
          </p:cNvPr>
          <p:cNvSpPr>
            <a:spLocks noGrp="1"/>
          </p:cNvSpPr>
          <p:nvPr>
            <p:ph type="title"/>
          </p:nvPr>
        </p:nvSpPr>
        <p:spPr/>
        <p:txBody>
          <a:bodyPr>
            <a:normAutofit/>
          </a:bodyPr>
          <a:lstStyle/>
          <a:p>
            <a:pPr algn="ctr"/>
            <a:r>
              <a:rPr lang="en-US" sz="4000" dirty="0"/>
              <a:t>Logistic Regression</a:t>
            </a:r>
          </a:p>
        </p:txBody>
      </p:sp>
      <p:sp>
        <p:nvSpPr>
          <p:cNvPr id="3" name="Content Placeholder 2">
            <a:extLst>
              <a:ext uri="{FF2B5EF4-FFF2-40B4-BE49-F238E27FC236}">
                <a16:creationId xmlns:a16="http://schemas.microsoft.com/office/drawing/2014/main" id="{438E24B1-F417-4B5E-BC40-3559C1FA297F}"/>
              </a:ext>
            </a:extLst>
          </p:cNvPr>
          <p:cNvSpPr>
            <a:spLocks noGrp="1"/>
          </p:cNvSpPr>
          <p:nvPr>
            <p:ph idx="1"/>
          </p:nvPr>
        </p:nvSpPr>
        <p:spPr/>
        <p:txBody>
          <a:bodyPr>
            <a:normAutofit/>
          </a:bodyPr>
          <a:lstStyle/>
          <a:p>
            <a:pPr marL="0" indent="0">
              <a:buNone/>
            </a:pPr>
            <a:r>
              <a:rPr lang="en-US" sz="2800" dirty="0"/>
              <a:t>Logistic regression is a statistical model that in its basic form uses a logistic function to model a binary dependent variable, although many more complex extensions exist. In regression analysis, logistic regression is estimating the parameters of a logistic model (a form of binary regression).</a:t>
            </a:r>
          </a:p>
        </p:txBody>
      </p:sp>
    </p:spTree>
    <p:extLst>
      <p:ext uri="{BB962C8B-B14F-4D97-AF65-F5344CB8AC3E}">
        <p14:creationId xmlns:p14="http://schemas.microsoft.com/office/powerpoint/2010/main" val="428105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517E-4266-4A96-A508-10F7F92E369E}"/>
              </a:ext>
            </a:extLst>
          </p:cNvPr>
          <p:cNvSpPr>
            <a:spLocks noGrp="1"/>
          </p:cNvSpPr>
          <p:nvPr>
            <p:ph type="title"/>
          </p:nvPr>
        </p:nvSpPr>
        <p:spPr/>
        <p:txBody>
          <a:bodyPr/>
          <a:lstStyle/>
          <a:p>
            <a:r>
              <a:rPr lang="en-US" dirty="0"/>
              <a:t>Logistic regression output on our dataset</a:t>
            </a:r>
          </a:p>
        </p:txBody>
      </p:sp>
      <p:pic>
        <p:nvPicPr>
          <p:cNvPr id="4" name="Picture 3">
            <a:extLst>
              <a:ext uri="{FF2B5EF4-FFF2-40B4-BE49-F238E27FC236}">
                <a16:creationId xmlns:a16="http://schemas.microsoft.com/office/drawing/2014/main" id="{6130CDD8-FD31-4CD4-8304-DA70F23431C2}"/>
              </a:ext>
            </a:extLst>
          </p:cNvPr>
          <p:cNvPicPr>
            <a:picLocks noChangeAspect="1"/>
          </p:cNvPicPr>
          <p:nvPr/>
        </p:nvPicPr>
        <p:blipFill>
          <a:blip r:embed="rId2"/>
          <a:stretch>
            <a:fillRect/>
          </a:stretch>
        </p:blipFill>
        <p:spPr>
          <a:xfrm>
            <a:off x="2831977" y="1947193"/>
            <a:ext cx="6285390" cy="4106288"/>
          </a:xfrm>
          <a:prstGeom prst="rect">
            <a:avLst/>
          </a:prstGeom>
        </p:spPr>
      </p:pic>
    </p:spTree>
    <p:extLst>
      <p:ext uri="{BB962C8B-B14F-4D97-AF65-F5344CB8AC3E}">
        <p14:creationId xmlns:p14="http://schemas.microsoft.com/office/powerpoint/2010/main" val="3579702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8717D-42F5-4C68-9C93-50DF3FED06DC}"/>
              </a:ext>
            </a:extLst>
          </p:cNvPr>
          <p:cNvSpPr>
            <a:spLocks noGrp="1"/>
          </p:cNvSpPr>
          <p:nvPr>
            <p:ph type="title"/>
          </p:nvPr>
        </p:nvSpPr>
        <p:spPr/>
        <p:txBody>
          <a:bodyPr>
            <a:normAutofit/>
          </a:bodyPr>
          <a:lstStyle/>
          <a:p>
            <a:pPr algn="ctr"/>
            <a:r>
              <a:rPr lang="en-US" sz="4000" dirty="0"/>
              <a:t>SVM and svc</a:t>
            </a:r>
          </a:p>
        </p:txBody>
      </p:sp>
      <p:sp>
        <p:nvSpPr>
          <p:cNvPr id="3" name="Content Placeholder 2">
            <a:extLst>
              <a:ext uri="{FF2B5EF4-FFF2-40B4-BE49-F238E27FC236}">
                <a16:creationId xmlns:a16="http://schemas.microsoft.com/office/drawing/2014/main" id="{91E3C657-8D8C-44CB-BA48-0E09E385694A}"/>
              </a:ext>
            </a:extLst>
          </p:cNvPr>
          <p:cNvSpPr>
            <a:spLocks noGrp="1"/>
          </p:cNvSpPr>
          <p:nvPr>
            <p:ph idx="1"/>
          </p:nvPr>
        </p:nvSpPr>
        <p:spPr/>
        <p:txBody>
          <a:bodyPr>
            <a:normAutofit/>
          </a:bodyPr>
          <a:lstStyle/>
          <a:p>
            <a:pPr marL="0" indent="0">
              <a:buNone/>
            </a:pPr>
            <a:endParaRPr lang="en-US" sz="2800" dirty="0"/>
          </a:p>
          <a:p>
            <a:pPr marL="0" indent="0">
              <a:buNone/>
            </a:pPr>
            <a:r>
              <a:rPr lang="en-US" sz="2800" dirty="0"/>
              <a:t>Support vector machines (SVMs) are a set of supervised learning methods used for classification, regression and outlier detection.</a:t>
            </a:r>
          </a:p>
        </p:txBody>
      </p:sp>
    </p:spTree>
    <p:extLst>
      <p:ext uri="{BB962C8B-B14F-4D97-AF65-F5344CB8AC3E}">
        <p14:creationId xmlns:p14="http://schemas.microsoft.com/office/powerpoint/2010/main" val="3055234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535E6-F912-46CA-B627-DED7B59AAB3D}"/>
              </a:ext>
            </a:extLst>
          </p:cNvPr>
          <p:cNvSpPr>
            <a:spLocks noGrp="1"/>
          </p:cNvSpPr>
          <p:nvPr>
            <p:ph type="title"/>
          </p:nvPr>
        </p:nvSpPr>
        <p:spPr/>
        <p:txBody>
          <a:bodyPr/>
          <a:lstStyle/>
          <a:p>
            <a:pPr algn="ctr"/>
            <a:r>
              <a:rPr lang="en-US" dirty="0"/>
              <a:t>Svc on our dataset</a:t>
            </a:r>
          </a:p>
        </p:txBody>
      </p:sp>
      <p:pic>
        <p:nvPicPr>
          <p:cNvPr id="4" name="Picture 3">
            <a:extLst>
              <a:ext uri="{FF2B5EF4-FFF2-40B4-BE49-F238E27FC236}">
                <a16:creationId xmlns:a16="http://schemas.microsoft.com/office/drawing/2014/main" id="{38C27071-D2BE-4420-9ED5-79FCA3A4D889}"/>
              </a:ext>
            </a:extLst>
          </p:cNvPr>
          <p:cNvPicPr>
            <a:picLocks noChangeAspect="1"/>
          </p:cNvPicPr>
          <p:nvPr/>
        </p:nvPicPr>
        <p:blipFill>
          <a:blip r:embed="rId2"/>
          <a:stretch>
            <a:fillRect/>
          </a:stretch>
        </p:blipFill>
        <p:spPr>
          <a:xfrm>
            <a:off x="2455438" y="1853754"/>
            <a:ext cx="7595556" cy="4112040"/>
          </a:xfrm>
          <a:prstGeom prst="rect">
            <a:avLst/>
          </a:prstGeom>
        </p:spPr>
      </p:pic>
    </p:spTree>
    <p:extLst>
      <p:ext uri="{BB962C8B-B14F-4D97-AF65-F5344CB8AC3E}">
        <p14:creationId xmlns:p14="http://schemas.microsoft.com/office/powerpoint/2010/main" val="3888512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7D49-0257-4EDF-8C04-4CB689E1DAE9}"/>
              </a:ext>
            </a:extLst>
          </p:cNvPr>
          <p:cNvSpPr>
            <a:spLocks noGrp="1"/>
          </p:cNvSpPr>
          <p:nvPr>
            <p:ph type="title"/>
          </p:nvPr>
        </p:nvSpPr>
        <p:spPr/>
        <p:txBody>
          <a:bodyPr>
            <a:normAutofit/>
          </a:bodyPr>
          <a:lstStyle/>
          <a:p>
            <a:pPr algn="ctr"/>
            <a:r>
              <a:rPr lang="en-US" sz="4000" dirty="0" err="1"/>
              <a:t>Knn</a:t>
            </a:r>
            <a:r>
              <a:rPr lang="en-US" sz="4000" dirty="0"/>
              <a:t> Algorithm</a:t>
            </a:r>
          </a:p>
        </p:txBody>
      </p:sp>
      <p:sp>
        <p:nvSpPr>
          <p:cNvPr id="3" name="Content Placeholder 2">
            <a:extLst>
              <a:ext uri="{FF2B5EF4-FFF2-40B4-BE49-F238E27FC236}">
                <a16:creationId xmlns:a16="http://schemas.microsoft.com/office/drawing/2014/main" id="{0C92C7CA-2282-4178-838E-C78F325A0685}"/>
              </a:ext>
            </a:extLst>
          </p:cNvPr>
          <p:cNvSpPr>
            <a:spLocks noGrp="1"/>
          </p:cNvSpPr>
          <p:nvPr>
            <p:ph idx="1"/>
          </p:nvPr>
        </p:nvSpPr>
        <p:spPr/>
        <p:txBody>
          <a:bodyPr/>
          <a:lstStyle/>
          <a:p>
            <a:pPr marL="0" indent="0">
              <a:buNone/>
            </a:pPr>
            <a:r>
              <a:rPr lang="en-US" sz="2400" dirty="0"/>
              <a:t>KNN can be used for both classification and regression predictive problems. However, it is more widely used in classification problems in the industry. To evaluate any technique we generally look at 3 important aspects:</a:t>
            </a:r>
          </a:p>
          <a:p>
            <a:pPr marL="0" indent="0">
              <a:buNone/>
            </a:pPr>
            <a:r>
              <a:rPr lang="en-US" sz="2400" dirty="0"/>
              <a:t>1. Ease to interpret output</a:t>
            </a:r>
          </a:p>
          <a:p>
            <a:pPr marL="0" indent="0">
              <a:buNone/>
            </a:pPr>
            <a:r>
              <a:rPr lang="en-US" sz="2400" dirty="0"/>
              <a:t>2. Calculation time</a:t>
            </a:r>
          </a:p>
          <a:p>
            <a:pPr marL="0" indent="0">
              <a:buNone/>
            </a:pPr>
            <a:r>
              <a:rPr lang="en-US" sz="2400" dirty="0"/>
              <a:t>3. Predictive Power</a:t>
            </a:r>
          </a:p>
          <a:p>
            <a:endParaRPr lang="en-US" dirty="0"/>
          </a:p>
        </p:txBody>
      </p:sp>
    </p:spTree>
    <p:extLst>
      <p:ext uri="{BB962C8B-B14F-4D97-AF65-F5344CB8AC3E}">
        <p14:creationId xmlns:p14="http://schemas.microsoft.com/office/powerpoint/2010/main" val="98811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FA1F-0693-4E76-9D2A-EF777858ACC8}"/>
              </a:ext>
            </a:extLst>
          </p:cNvPr>
          <p:cNvSpPr>
            <a:spLocks noGrp="1"/>
          </p:cNvSpPr>
          <p:nvPr>
            <p:ph type="title"/>
          </p:nvPr>
        </p:nvSpPr>
        <p:spPr/>
        <p:txBody>
          <a:bodyPr>
            <a:normAutofit/>
          </a:bodyPr>
          <a:lstStyle/>
          <a:p>
            <a:pPr algn="ctr"/>
            <a:r>
              <a:rPr lang="en-US" sz="4000" dirty="0" err="1"/>
              <a:t>Knn</a:t>
            </a:r>
            <a:r>
              <a:rPr lang="en-US" sz="4000" dirty="0"/>
              <a:t> on our Dataset</a:t>
            </a:r>
          </a:p>
        </p:txBody>
      </p:sp>
      <p:pic>
        <p:nvPicPr>
          <p:cNvPr id="4" name="Picture 3">
            <a:extLst>
              <a:ext uri="{FF2B5EF4-FFF2-40B4-BE49-F238E27FC236}">
                <a16:creationId xmlns:a16="http://schemas.microsoft.com/office/drawing/2014/main" id="{1D02014C-7EB1-4D21-B608-57978F46F977}"/>
              </a:ext>
            </a:extLst>
          </p:cNvPr>
          <p:cNvPicPr>
            <a:picLocks noChangeAspect="1"/>
          </p:cNvPicPr>
          <p:nvPr/>
        </p:nvPicPr>
        <p:blipFill>
          <a:blip r:embed="rId2"/>
          <a:stretch>
            <a:fillRect/>
          </a:stretch>
        </p:blipFill>
        <p:spPr>
          <a:xfrm>
            <a:off x="1706606" y="2166771"/>
            <a:ext cx="8778787" cy="3041339"/>
          </a:xfrm>
          <a:prstGeom prst="rect">
            <a:avLst/>
          </a:prstGeom>
        </p:spPr>
      </p:pic>
    </p:spTree>
    <p:extLst>
      <p:ext uri="{BB962C8B-B14F-4D97-AF65-F5344CB8AC3E}">
        <p14:creationId xmlns:p14="http://schemas.microsoft.com/office/powerpoint/2010/main" val="1810738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3B84-1E54-4370-8F28-1483AE6F5BA2}"/>
              </a:ext>
            </a:extLst>
          </p:cNvPr>
          <p:cNvSpPr>
            <a:spLocks noGrp="1"/>
          </p:cNvSpPr>
          <p:nvPr>
            <p:ph type="title"/>
          </p:nvPr>
        </p:nvSpPr>
        <p:spPr/>
        <p:txBody>
          <a:bodyPr/>
          <a:lstStyle/>
          <a:p>
            <a:r>
              <a:rPr lang="en-US" dirty="0"/>
              <a:t>Converting the dataset into train and test</a:t>
            </a:r>
          </a:p>
        </p:txBody>
      </p:sp>
      <p:pic>
        <p:nvPicPr>
          <p:cNvPr id="4" name="Picture 3">
            <a:extLst>
              <a:ext uri="{FF2B5EF4-FFF2-40B4-BE49-F238E27FC236}">
                <a16:creationId xmlns:a16="http://schemas.microsoft.com/office/drawing/2014/main" id="{C9395F2D-C892-4B26-97C0-A41C551680BB}"/>
              </a:ext>
            </a:extLst>
          </p:cNvPr>
          <p:cNvPicPr>
            <a:picLocks noChangeAspect="1"/>
          </p:cNvPicPr>
          <p:nvPr/>
        </p:nvPicPr>
        <p:blipFill>
          <a:blip r:embed="rId2"/>
          <a:stretch>
            <a:fillRect/>
          </a:stretch>
        </p:blipFill>
        <p:spPr>
          <a:xfrm>
            <a:off x="1229637" y="2883573"/>
            <a:ext cx="10256029" cy="965618"/>
          </a:xfrm>
          <a:prstGeom prst="rect">
            <a:avLst/>
          </a:prstGeom>
        </p:spPr>
      </p:pic>
    </p:spTree>
    <p:extLst>
      <p:ext uri="{BB962C8B-B14F-4D97-AF65-F5344CB8AC3E}">
        <p14:creationId xmlns:p14="http://schemas.microsoft.com/office/powerpoint/2010/main" val="878289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F763-C87F-4F7B-A9F2-A32F08045BCC}"/>
              </a:ext>
            </a:extLst>
          </p:cNvPr>
          <p:cNvSpPr>
            <a:spLocks noGrp="1"/>
          </p:cNvSpPr>
          <p:nvPr>
            <p:ph type="title"/>
          </p:nvPr>
        </p:nvSpPr>
        <p:spPr/>
        <p:txBody>
          <a:bodyPr>
            <a:normAutofit/>
          </a:bodyPr>
          <a:lstStyle/>
          <a:p>
            <a:pPr algn="ctr"/>
            <a:r>
              <a:rPr lang="en-US" sz="4000" dirty="0"/>
              <a:t>Results of the prediction</a:t>
            </a:r>
          </a:p>
        </p:txBody>
      </p:sp>
      <p:pic>
        <p:nvPicPr>
          <p:cNvPr id="4" name="Picture 3">
            <a:extLst>
              <a:ext uri="{FF2B5EF4-FFF2-40B4-BE49-F238E27FC236}">
                <a16:creationId xmlns:a16="http://schemas.microsoft.com/office/drawing/2014/main" id="{28990609-9E19-4F0F-BEF0-8075E72ED821}"/>
              </a:ext>
            </a:extLst>
          </p:cNvPr>
          <p:cNvPicPr>
            <a:picLocks noChangeAspect="1"/>
          </p:cNvPicPr>
          <p:nvPr/>
        </p:nvPicPr>
        <p:blipFill>
          <a:blip r:embed="rId2"/>
          <a:stretch>
            <a:fillRect/>
          </a:stretch>
        </p:blipFill>
        <p:spPr>
          <a:xfrm>
            <a:off x="432083" y="2875141"/>
            <a:ext cx="5113463" cy="929721"/>
          </a:xfrm>
          <a:prstGeom prst="rect">
            <a:avLst/>
          </a:prstGeom>
        </p:spPr>
      </p:pic>
      <p:pic>
        <p:nvPicPr>
          <p:cNvPr id="5" name="Picture 4">
            <a:extLst>
              <a:ext uri="{FF2B5EF4-FFF2-40B4-BE49-F238E27FC236}">
                <a16:creationId xmlns:a16="http://schemas.microsoft.com/office/drawing/2014/main" id="{FD1D9866-933C-4E81-A5D7-89F3BAE8290A}"/>
              </a:ext>
            </a:extLst>
          </p:cNvPr>
          <p:cNvPicPr>
            <a:picLocks noChangeAspect="1"/>
          </p:cNvPicPr>
          <p:nvPr/>
        </p:nvPicPr>
        <p:blipFill>
          <a:blip r:embed="rId3"/>
          <a:stretch>
            <a:fillRect/>
          </a:stretch>
        </p:blipFill>
        <p:spPr>
          <a:xfrm>
            <a:off x="6096000" y="1969619"/>
            <a:ext cx="4633362" cy="2179509"/>
          </a:xfrm>
          <a:prstGeom prst="rect">
            <a:avLst/>
          </a:prstGeom>
        </p:spPr>
      </p:pic>
      <p:sp>
        <p:nvSpPr>
          <p:cNvPr id="6" name="TextBox 5">
            <a:extLst>
              <a:ext uri="{FF2B5EF4-FFF2-40B4-BE49-F238E27FC236}">
                <a16:creationId xmlns:a16="http://schemas.microsoft.com/office/drawing/2014/main" id="{D3229550-13E3-47E2-BD61-7B1F3A05C3F2}"/>
              </a:ext>
            </a:extLst>
          </p:cNvPr>
          <p:cNvSpPr txBox="1"/>
          <p:nvPr/>
        </p:nvSpPr>
        <p:spPr>
          <a:xfrm>
            <a:off x="1462638" y="3974718"/>
            <a:ext cx="2974019" cy="553998"/>
          </a:xfrm>
          <a:prstGeom prst="rect">
            <a:avLst/>
          </a:prstGeom>
          <a:noFill/>
        </p:spPr>
        <p:txBody>
          <a:bodyPr wrap="square" rtlCol="0">
            <a:spAutoFit/>
          </a:bodyPr>
          <a:lstStyle/>
          <a:p>
            <a:r>
              <a:rPr lang="en-US" sz="3000" dirty="0"/>
              <a:t>Confusion matrix</a:t>
            </a:r>
          </a:p>
        </p:txBody>
      </p:sp>
      <p:sp>
        <p:nvSpPr>
          <p:cNvPr id="7" name="TextBox 6">
            <a:extLst>
              <a:ext uri="{FF2B5EF4-FFF2-40B4-BE49-F238E27FC236}">
                <a16:creationId xmlns:a16="http://schemas.microsoft.com/office/drawing/2014/main" id="{C9BF8E7A-2194-4217-A83F-906B1A619AC8}"/>
              </a:ext>
            </a:extLst>
          </p:cNvPr>
          <p:cNvSpPr txBox="1"/>
          <p:nvPr/>
        </p:nvSpPr>
        <p:spPr>
          <a:xfrm>
            <a:off x="6997759" y="4176659"/>
            <a:ext cx="3087276" cy="1015663"/>
          </a:xfrm>
          <a:prstGeom prst="rect">
            <a:avLst/>
          </a:prstGeom>
          <a:noFill/>
        </p:spPr>
        <p:txBody>
          <a:bodyPr wrap="square" rtlCol="0">
            <a:spAutoFit/>
          </a:bodyPr>
          <a:lstStyle/>
          <a:p>
            <a:r>
              <a:rPr lang="en-US" sz="3000" dirty="0" err="1"/>
              <a:t>y_test</a:t>
            </a:r>
            <a:r>
              <a:rPr lang="en-US" sz="3000" dirty="0"/>
              <a:t> and </a:t>
            </a:r>
            <a:r>
              <a:rPr lang="en-US" sz="3000" dirty="0" err="1"/>
              <a:t>y_pred</a:t>
            </a:r>
            <a:r>
              <a:rPr lang="en-US" sz="3000" dirty="0"/>
              <a:t> </a:t>
            </a:r>
          </a:p>
          <a:p>
            <a:pPr algn="ctr"/>
            <a:r>
              <a:rPr lang="en-US" sz="3000" dirty="0" err="1"/>
              <a:t>comparision</a:t>
            </a:r>
            <a:endParaRPr lang="en-US" sz="3000" dirty="0"/>
          </a:p>
        </p:txBody>
      </p:sp>
    </p:spTree>
    <p:extLst>
      <p:ext uri="{BB962C8B-B14F-4D97-AF65-F5344CB8AC3E}">
        <p14:creationId xmlns:p14="http://schemas.microsoft.com/office/powerpoint/2010/main" val="863719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15176-3B20-4DF8-A364-586C587A4782}"/>
              </a:ext>
            </a:extLst>
          </p:cNvPr>
          <p:cNvSpPr>
            <a:spLocks noGrp="1"/>
          </p:cNvSpPr>
          <p:nvPr>
            <p:ph type="title"/>
          </p:nvPr>
        </p:nvSpPr>
        <p:spPr/>
        <p:txBody>
          <a:bodyPr>
            <a:normAutofit/>
          </a:bodyPr>
          <a:lstStyle/>
          <a:p>
            <a:pPr algn="ctr"/>
            <a:r>
              <a:rPr lang="en-US" sz="4000" dirty="0"/>
              <a:t>Comparing the results</a:t>
            </a:r>
          </a:p>
        </p:txBody>
      </p:sp>
      <p:graphicFrame>
        <p:nvGraphicFramePr>
          <p:cNvPr id="6" name="Table 6">
            <a:extLst>
              <a:ext uri="{FF2B5EF4-FFF2-40B4-BE49-F238E27FC236}">
                <a16:creationId xmlns:a16="http://schemas.microsoft.com/office/drawing/2014/main" id="{9820A62F-6AA8-4E76-A3CF-43F80C541276}"/>
              </a:ext>
            </a:extLst>
          </p:cNvPr>
          <p:cNvGraphicFramePr>
            <a:graphicFrameLocks noGrp="1"/>
          </p:cNvGraphicFramePr>
          <p:nvPr>
            <p:ph idx="1"/>
            <p:extLst>
              <p:ext uri="{D42A27DB-BD31-4B8C-83A1-F6EECF244321}">
                <p14:modId xmlns:p14="http://schemas.microsoft.com/office/powerpoint/2010/main" val="1955311738"/>
              </p:ext>
            </p:extLst>
          </p:nvPr>
        </p:nvGraphicFramePr>
        <p:xfrm>
          <a:off x="1450975" y="1998368"/>
          <a:ext cx="9603276" cy="3745484"/>
        </p:xfrm>
        <a:graphic>
          <a:graphicData uri="http://schemas.openxmlformats.org/drawingml/2006/table">
            <a:tbl>
              <a:tblPr firstRow="1" bandRow="1">
                <a:tableStyleId>{5C22544A-7EE6-4342-B048-85BDC9FD1C3A}</a:tableStyleId>
              </a:tblPr>
              <a:tblGrid>
                <a:gridCol w="4801638">
                  <a:extLst>
                    <a:ext uri="{9D8B030D-6E8A-4147-A177-3AD203B41FA5}">
                      <a16:colId xmlns:a16="http://schemas.microsoft.com/office/drawing/2014/main" val="2235582655"/>
                    </a:ext>
                  </a:extLst>
                </a:gridCol>
                <a:gridCol w="4801638">
                  <a:extLst>
                    <a:ext uri="{9D8B030D-6E8A-4147-A177-3AD203B41FA5}">
                      <a16:colId xmlns:a16="http://schemas.microsoft.com/office/drawing/2014/main" val="923889804"/>
                    </a:ext>
                  </a:extLst>
                </a:gridCol>
              </a:tblGrid>
              <a:tr h="936371">
                <a:tc>
                  <a:txBody>
                    <a:bodyPr/>
                    <a:lstStyle/>
                    <a:p>
                      <a:pPr algn="ctr"/>
                      <a:r>
                        <a:rPr lang="en-US" sz="2800" dirty="0"/>
                        <a:t>ALGORITHM USED</a:t>
                      </a:r>
                    </a:p>
                  </a:txBody>
                  <a:tcPr/>
                </a:tc>
                <a:tc>
                  <a:txBody>
                    <a:bodyPr/>
                    <a:lstStyle/>
                    <a:p>
                      <a:pPr algn="ctr"/>
                      <a:r>
                        <a:rPr lang="en-US" sz="2800" dirty="0"/>
                        <a:t>PREDICTION SCORE</a:t>
                      </a:r>
                    </a:p>
                  </a:txBody>
                  <a:tcPr/>
                </a:tc>
                <a:extLst>
                  <a:ext uri="{0D108BD9-81ED-4DB2-BD59-A6C34878D82A}">
                    <a16:rowId xmlns:a16="http://schemas.microsoft.com/office/drawing/2014/main" val="24089852"/>
                  </a:ext>
                </a:extLst>
              </a:tr>
              <a:tr h="936371">
                <a:tc>
                  <a:txBody>
                    <a:bodyPr/>
                    <a:lstStyle/>
                    <a:p>
                      <a:pPr algn="ctr"/>
                      <a:r>
                        <a:rPr lang="en-US" sz="2400" dirty="0"/>
                        <a:t>LOGISTIC REGRESSION</a:t>
                      </a:r>
                    </a:p>
                    <a:p>
                      <a:pPr algn="ctr"/>
                      <a:endParaRPr lang="en-US" sz="2800" dirty="0"/>
                    </a:p>
                  </a:txBody>
                  <a:tcPr/>
                </a:tc>
                <a:tc>
                  <a:txBody>
                    <a:bodyPr/>
                    <a:lstStyle/>
                    <a:p>
                      <a:pPr algn="ctr"/>
                      <a:r>
                        <a:rPr lang="en-US" sz="2800" dirty="0"/>
                        <a:t>73.333</a:t>
                      </a:r>
                    </a:p>
                  </a:txBody>
                  <a:tcPr/>
                </a:tc>
                <a:extLst>
                  <a:ext uri="{0D108BD9-81ED-4DB2-BD59-A6C34878D82A}">
                    <a16:rowId xmlns:a16="http://schemas.microsoft.com/office/drawing/2014/main" val="1475256203"/>
                  </a:ext>
                </a:extLst>
              </a:tr>
              <a:tr h="936371">
                <a:tc>
                  <a:txBody>
                    <a:bodyPr/>
                    <a:lstStyle/>
                    <a:p>
                      <a:pPr algn="ctr"/>
                      <a:r>
                        <a:rPr lang="en-US" sz="2400" b="1" dirty="0"/>
                        <a:t>SVC</a:t>
                      </a:r>
                    </a:p>
                    <a:p>
                      <a:pPr algn="ctr"/>
                      <a:endParaRPr lang="en-US" dirty="0"/>
                    </a:p>
                  </a:txBody>
                  <a:tcPr/>
                </a:tc>
                <a:tc>
                  <a:txBody>
                    <a:bodyPr/>
                    <a:lstStyle/>
                    <a:p>
                      <a:pPr algn="ctr"/>
                      <a:r>
                        <a:rPr lang="en-US" sz="2800" b="1" dirty="0"/>
                        <a:t>80.0</a:t>
                      </a:r>
                    </a:p>
                    <a:p>
                      <a:pPr algn="ctr"/>
                      <a:endParaRPr lang="en-US" dirty="0"/>
                    </a:p>
                  </a:txBody>
                  <a:tcPr/>
                </a:tc>
                <a:extLst>
                  <a:ext uri="{0D108BD9-81ED-4DB2-BD59-A6C34878D82A}">
                    <a16:rowId xmlns:a16="http://schemas.microsoft.com/office/drawing/2014/main" val="1696642968"/>
                  </a:ext>
                </a:extLst>
              </a:tr>
              <a:tr h="936371">
                <a:tc>
                  <a:txBody>
                    <a:bodyPr/>
                    <a:lstStyle/>
                    <a:p>
                      <a:pPr algn="ctr"/>
                      <a:r>
                        <a:rPr lang="en-US" sz="2400" dirty="0"/>
                        <a:t>KNN</a:t>
                      </a:r>
                    </a:p>
                  </a:txBody>
                  <a:tcPr/>
                </a:tc>
                <a:tc>
                  <a:txBody>
                    <a:bodyPr/>
                    <a:lstStyle/>
                    <a:p>
                      <a:pPr algn="ctr"/>
                      <a:r>
                        <a:rPr lang="en-US" sz="2800" dirty="0"/>
                        <a:t>78.49</a:t>
                      </a:r>
                    </a:p>
                  </a:txBody>
                  <a:tcPr/>
                </a:tc>
                <a:extLst>
                  <a:ext uri="{0D108BD9-81ED-4DB2-BD59-A6C34878D82A}">
                    <a16:rowId xmlns:a16="http://schemas.microsoft.com/office/drawing/2014/main" val="3336983001"/>
                  </a:ext>
                </a:extLst>
              </a:tr>
            </a:tbl>
          </a:graphicData>
        </a:graphic>
      </p:graphicFrame>
    </p:spTree>
    <p:extLst>
      <p:ext uri="{BB962C8B-B14F-4D97-AF65-F5344CB8AC3E}">
        <p14:creationId xmlns:p14="http://schemas.microsoft.com/office/powerpoint/2010/main" val="3382057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292D-F312-47EC-A562-FB9AD67FB007}"/>
              </a:ext>
            </a:extLst>
          </p:cNvPr>
          <p:cNvSpPr>
            <a:spLocks noGrp="1"/>
          </p:cNvSpPr>
          <p:nvPr>
            <p:ph type="title"/>
          </p:nvPr>
        </p:nvSpPr>
        <p:spPr/>
        <p:txBody>
          <a:bodyPr>
            <a:normAutofit/>
          </a:bodyPr>
          <a:lstStyle/>
          <a:p>
            <a:pPr algn="ctr"/>
            <a:r>
              <a:rPr lang="en-US" sz="4000" dirty="0"/>
              <a:t>Conclusion</a:t>
            </a:r>
          </a:p>
        </p:txBody>
      </p:sp>
      <p:sp>
        <p:nvSpPr>
          <p:cNvPr id="3" name="Content Placeholder 2">
            <a:extLst>
              <a:ext uri="{FF2B5EF4-FFF2-40B4-BE49-F238E27FC236}">
                <a16:creationId xmlns:a16="http://schemas.microsoft.com/office/drawing/2014/main" id="{90912EA8-57C7-4E3A-8DD5-D2B17D5708DB}"/>
              </a:ext>
            </a:extLst>
          </p:cNvPr>
          <p:cNvSpPr>
            <a:spLocks noGrp="1"/>
          </p:cNvSpPr>
          <p:nvPr>
            <p:ph idx="1"/>
          </p:nvPr>
        </p:nvSpPr>
        <p:spPr/>
        <p:txBody>
          <a:bodyPr>
            <a:normAutofit fontScale="92500"/>
          </a:bodyPr>
          <a:lstStyle/>
          <a:p>
            <a:r>
              <a:rPr lang="en-US" sz="2800" dirty="0"/>
              <a:t>Variables such as “Passenger Id”, ”Name”, “Ticket”, “Fare”, “Cabin” are removed as they are not effecting the target variable much.</a:t>
            </a:r>
          </a:p>
          <a:p>
            <a:r>
              <a:rPr lang="en-US" sz="2800" dirty="0"/>
              <a:t>Women, children and first class passengers as well as people with a small family had a better chance of survival.</a:t>
            </a:r>
          </a:p>
          <a:p>
            <a:r>
              <a:rPr lang="en-US" sz="2800" dirty="0"/>
              <a:t>I am getting a maximum of accuracy of </a:t>
            </a:r>
            <a:r>
              <a:rPr lang="en-US" sz="2800" b="1" dirty="0"/>
              <a:t>80%</a:t>
            </a:r>
            <a:r>
              <a:rPr lang="en-US" sz="2800" dirty="0"/>
              <a:t> by using the SVC algorithm.</a:t>
            </a:r>
          </a:p>
        </p:txBody>
      </p:sp>
    </p:spTree>
    <p:extLst>
      <p:ext uri="{BB962C8B-B14F-4D97-AF65-F5344CB8AC3E}">
        <p14:creationId xmlns:p14="http://schemas.microsoft.com/office/powerpoint/2010/main" val="39262833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98</TotalTime>
  <Words>431</Words>
  <Application>Microsoft Office PowerPoint</Application>
  <PresentationFormat>Widescreen</PresentationFormat>
  <Paragraphs>52</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Gill Sans MT</vt:lpstr>
      <vt:lpstr>Gallery</vt:lpstr>
      <vt:lpstr>Analyzing Titanic Dataset</vt:lpstr>
      <vt:lpstr>Introduction</vt:lpstr>
      <vt:lpstr>OBJECTIVE</vt:lpstr>
      <vt:lpstr>Parameters to determine</vt:lpstr>
      <vt:lpstr>Finding the optimum target columns</vt:lpstr>
      <vt:lpstr>Splitting the dataset</vt:lpstr>
      <vt:lpstr>Relation between columns: I</vt:lpstr>
      <vt:lpstr>Relation between columns: II</vt:lpstr>
      <vt:lpstr>FINDING THE OPTIMUM COLUMN</vt:lpstr>
      <vt:lpstr>Extracting the required columns</vt:lpstr>
      <vt:lpstr>Dataset</vt:lpstr>
      <vt:lpstr>Libraries imported </vt:lpstr>
      <vt:lpstr>Logistic Regression</vt:lpstr>
      <vt:lpstr>Logistic regression output on our dataset</vt:lpstr>
      <vt:lpstr>SVM and svc</vt:lpstr>
      <vt:lpstr>Svc on our dataset</vt:lpstr>
      <vt:lpstr>Knn Algorithm</vt:lpstr>
      <vt:lpstr>Knn on our Dataset</vt:lpstr>
      <vt:lpstr>Converting the dataset into train and test</vt:lpstr>
      <vt:lpstr>Results of the prediction</vt:lpstr>
      <vt:lpstr>Comparing the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Titanic Dataset</dc:title>
  <dc:creator>SUDHISH SUBRAMANIAM</dc:creator>
  <cp:lastModifiedBy>SUDHISH SUBRAMANIAM</cp:lastModifiedBy>
  <cp:revision>10</cp:revision>
  <dcterms:created xsi:type="dcterms:W3CDTF">2020-06-20T14:37:57Z</dcterms:created>
  <dcterms:modified xsi:type="dcterms:W3CDTF">2020-06-21T08:33:37Z</dcterms:modified>
</cp:coreProperties>
</file>